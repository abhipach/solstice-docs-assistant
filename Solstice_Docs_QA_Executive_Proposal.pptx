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183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96012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23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91472" y="112471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E2EC"/>
                </a:solidFill>
                <a:latin typeface="Aptos"/>
              </a:rPr>
              <a:t>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192024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23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91472" y="208483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5D6C2"/>
                </a:solidFill>
                <a:latin typeface="Aptos"/>
              </a:rPr>
              <a:t>RETRIEVE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2880360"/>
            <a:ext cx="2148840" cy="603504"/>
          </a:xfrm>
          <a:prstGeom prst="roundRect">
            <a:avLst>
              <a:gd name="adj" fmla="val 12000"/>
            </a:avLst>
          </a:prstGeom>
          <a:solidFill>
            <a:srgbClr val="23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91472" y="304495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51008" y="1572768"/>
            <a:ext cx="0" cy="301751"/>
          </a:xfrm>
          <a:prstGeom prst="line">
            <a:avLst/>
          </a:prstGeom>
          <a:ln w="2540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351008" y="2532888"/>
            <a:ext cx="0" cy="301752"/>
          </a:xfrm>
          <a:prstGeom prst="line">
            <a:avLst/>
          </a:prstGeom>
          <a:ln w="25400">
            <a:solidFill>
              <a:srgbClr val="55D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665208" y="3886200"/>
            <a:ext cx="1371600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694944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6C2"/>
                </a:solidFill>
                <a:latin typeface="Aptos"/>
              </a:rPr>
              <a:t>SOLSTICE LEARNING  /  EXECUTIVE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508760"/>
            <a:ext cx="7726679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Answers admins can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035808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9E2EC"/>
                </a:solidFill>
                <a:latin typeface="Aptos"/>
              </a:rPr>
              <a:t>A documentation Q&amp;A assistant that finds the evidence  -  and knows when to say "I don't know."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4846320"/>
            <a:ext cx="7022592" cy="0"/>
          </a:xfrm>
          <a:prstGeom prst="line">
            <a:avLst/>
          </a:prstGeom>
          <a:ln w="12700">
            <a:solidFill>
              <a:srgbClr val="3153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5102352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Decision brief  |  Prototype-to-pilot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345936"/>
            <a:ext cx="7498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9FB3C8"/>
                </a:solidFill>
                <a:latin typeface="Aptos"/>
              </a:rPr>
              <a:t>Prepared for senior stakeholders   -   17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01  /  DECISION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Start with a narrow, evidence-led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The goal is not "AI for support"; it is faster access to trusted answers without creating new support risk.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719072"/>
            <a:ext cx="6876288" cy="422452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6263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6C2"/>
                </a:solidFill>
                <a:latin typeface="Aptos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60320"/>
            <a:ext cx="61996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Pilot a docs-first assistant for repeat admin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6080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9E2EC"/>
                </a:solidFill>
                <a:latin typeface="Aptos"/>
              </a:rPr>
              <a:t>Keep retrieval and abstention in control. Begin with a curated knowledge set and a human-owned content feedback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5093208"/>
            <a:ext cx="1965960" cy="438912"/>
          </a:xfrm>
          <a:prstGeom prst="roundRect">
            <a:avLst>
              <a:gd name="adj" fmla="val 12000"/>
            </a:avLst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19379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NO LLM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5552" y="1719072"/>
            <a:ext cx="3703320" cy="1225296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45552" y="1719072"/>
            <a:ext cx="64008" cy="122529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5864" y="1901952"/>
            <a:ext cx="3291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Value to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5864" y="2304288"/>
            <a:ext cx="3291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Less time hunting for documented answers; more consistent self-service.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3182112"/>
            <a:ext cx="3703320" cy="1225296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5552" y="3182112"/>
            <a:ext cx="64008" cy="1225296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3364992"/>
            <a:ext cx="3291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Risk to contain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5864" y="3767328"/>
            <a:ext cx="3291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Unsupported questions trigger a clear refusal, not a plausible guess.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5552" y="4645152"/>
            <a:ext cx="3703320" cy="1225296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4645152"/>
            <a:ext cx="64008" cy="1225296"/>
          </a:xfrm>
          <a:prstGeom prst="rect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55864" y="4828032"/>
            <a:ext cx="3291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Decision requested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230368"/>
            <a:ext cx="329183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Sponsor a time-boxed pilot, nominate an owner, and agree success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02  /  CUSTOMER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The answer exists; the discovery experience is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Support leadership reports repeated admin questions on topics such as password resets, export limits and billing cycles.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55648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ADMIN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67712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Plain-English, 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2084831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27D98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755648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38528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DOC HUNT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67712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Pages and sections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2984" y="2084831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27D98"/>
                </a:solidFill>
                <a:latin typeface="Aptos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755648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938528"/>
            <a:ext cx="2880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SUPPORT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267712"/>
            <a:ext cx="28529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Repeated contact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36976"/>
            <a:ext cx="5285232" cy="21945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36976"/>
            <a:ext cx="64008" cy="21945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419856"/>
            <a:ext cx="4873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Customer 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3822191"/>
            <a:ext cx="4873752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43B53"/>
                </a:solidFill>
                <a:latin typeface="Aptos"/>
              </a:rPr>
              <a:t>"It's all already in our docs, they just don't want to dig through pages to find it."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236976"/>
            <a:ext cx="5285232" cy="219456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2" y="3236976"/>
            <a:ext cx="64008" cy="219456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3419856"/>
            <a:ext cx="4873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Non-negotiable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822191"/>
            <a:ext cx="4873752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43B53"/>
                </a:solidFill>
                <a:latin typeface="Aptos"/>
              </a:rPr>
              <a:t>If documentation genuinely does not cover the question, prefer "I don't have an answer" over making one 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607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Implication: optimize for trustworthy resolution and calibrated refusal  -  not answer rate at any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03  /  VALUE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Value is measurable  -  but not yet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The prototype establishes feasibility. A live pilot should establish the operational and customer impact.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6720840" cy="184708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6172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6C2"/>
                </a:solidFill>
                <a:latin typeface="Aptos"/>
              </a:rPr>
              <a:t>CAPACITY RECOVERED (HOURS / MONTH)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6126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Repeat contacts x containment x handling time /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08960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7D8E5"/>
                </a:solidFill>
                <a:latin typeface="Aptos"/>
              </a:rPr>
              <a:t>Measure each input during the pilot; do not assume a savings figure.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1664208"/>
            <a:ext cx="3712463" cy="184708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4112" y="1664208"/>
            <a:ext cx="64008" cy="184708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4" y="1847088"/>
            <a:ext cx="33009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Admin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4424" y="2249424"/>
            <a:ext cx="3300983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Shorter path to the right answer; clear sources to verify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85615"/>
            <a:ext cx="3438144" cy="15727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785615"/>
            <a:ext cx="64008" cy="15727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68496"/>
            <a:ext cx="30266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Support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370831"/>
            <a:ext cx="3026663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Fewer repetitive lookups can release agent time for complex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3785615"/>
            <a:ext cx="3438144" cy="15727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1688" y="3785615"/>
            <a:ext cx="64008" cy="1572768"/>
          </a:xfrm>
          <a:prstGeom prst="rect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68496"/>
            <a:ext cx="30266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70831"/>
            <a:ext cx="3026663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A shared answer drawn from approved docs reduces agent-to-agent variation.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785615"/>
            <a:ext cx="3456432" cy="15727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0144" y="3785615"/>
            <a:ext cx="64008" cy="157276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3968496"/>
            <a:ext cx="30449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Content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4370831"/>
            <a:ext cx="3044951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Unanswered questions reveal gaps to prioritize in the knowledge base.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6692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Pilot baseline needed: repeat-question volume, average handling time, resolution, CSAT and documentation freshness.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04  / 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Make the operating assumptions explicit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These are v1 design choices to validate with Support, Product and Security  -  not facts established by the brief.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91056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91056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7393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76272"/>
            <a:ext cx="47548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Corporate training admins; single-turn questions for v1.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591056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1591056"/>
            <a:ext cx="64008" cy="1115568"/>
          </a:xfrm>
          <a:prstGeom prst="rect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77393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176272"/>
            <a:ext cx="47548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Approved documentation only; docs are maintained by named content owners.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944368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944368"/>
            <a:ext cx="64008" cy="111556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12724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FAIL-SAFE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3529584"/>
            <a:ext cx="47548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Prefer a relevant-but-uncertain response or abstention over unsupported certainty.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2944368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2944368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127248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529584"/>
            <a:ext cx="47548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Common support topics first; no account actions, transactions or private customer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297680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297680"/>
            <a:ext cx="64008" cy="1115568"/>
          </a:xfrm>
          <a:prstGeom prst="rect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448056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882896"/>
            <a:ext cx="47548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Synthetic seed examples are regression checks, not proof of production accuracy.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352" y="4297680"/>
            <a:ext cx="5166360" cy="1115568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45352" y="4297680"/>
            <a:ext cx="64008" cy="111556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4480560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4882896"/>
            <a:ext cx="4754880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Support owns review of unanswered queries; access and retention policies are required before production.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9729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2A43"/>
                </a:solidFill>
                <a:latin typeface="Aptos"/>
              </a:rPr>
              <a:t>Confirm in discovery: eligible users, approved docs, escalation path, data handling and the pilot - s "good enough"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05  /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Answer only when the retrieved evidence supports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Three outcomes preserve usefulness without forcing a confident answer when evidence is weak.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3401568" cy="91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84831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A6A6"/>
                </a:solidFill>
                <a:latin typeface="Aptos"/>
              </a:rPr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87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Aptos"/>
              </a:rPr>
              <a:t>Strong passage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99232"/>
            <a:ext cx="290779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Return the documentation text with article and section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743200"/>
            <a:ext cx="246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27D98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828800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1828800"/>
            <a:ext cx="3401568" cy="914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084831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4B942"/>
                </a:solidFill>
                <a:latin typeface="Aptos"/>
              </a:rPr>
              <a:t>RELATED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2487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Aptos"/>
              </a:rPr>
              <a:t>Partial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999232"/>
            <a:ext cx="290779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Show candidate passages as suggestions; explicitly avoid claiming they answer the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2743200"/>
            <a:ext cx="246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627D98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1828800"/>
            <a:ext cx="3401568" cy="2331720"/>
          </a:xfrm>
          <a:prstGeom prst="roundRect">
            <a:avLst>
              <a:gd name="adj" fmla="val 12000"/>
            </a:avLst>
          </a:prstGeom>
          <a:solidFill>
            <a:srgbClr val="FC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3" y="1828800"/>
            <a:ext cx="3401568" cy="91440"/>
          </a:xfrm>
          <a:prstGeom prst="rect">
            <a:avLst/>
          </a:prstGeom>
          <a:solidFill>
            <a:srgbClr val="C6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2084831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65D5D"/>
                </a:solidFill>
                <a:latin typeface="Aptos"/>
              </a:rPr>
              <a:t>NO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487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02A43"/>
                </a:solidFill>
                <a:latin typeface="Aptos"/>
              </a:rPr>
              <a:t>Insufficient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2999232"/>
            <a:ext cx="2907792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Say the docs do not provide an answer; log the gap for Support review.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553712"/>
            <a:ext cx="10963656" cy="74980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477316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USER QUESTION  &gt;  RETRIEVE PASSAGES  &gt;  SCORE COVERAGE  &gt;  ANSWER / CLARIFY / ABSTAIN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623560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Human feedback and declined questions create a Support-owned documentation improvement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06  /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A small, transparent stack keeps v1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Start with lexical retrieval; add model complexity only when measured misses justify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2011680" cy="1335024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0195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2199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15184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JSON seed / Markdown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A6A6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1719072"/>
            <a:ext cx="2011680" cy="1335024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90195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22199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615184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Article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1945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A6A6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1719072"/>
            <a:ext cx="2011680" cy="1335024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190195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222199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615184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BM25 + synonyms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21945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A6A6"/>
                </a:solidFill>
                <a:latin typeface="Aptos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2088" y="1719072"/>
            <a:ext cx="2011680" cy="1335024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190195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22199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2615184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IDF coverage thresholds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19456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0A6A6"/>
                </a:solidFill>
                <a:latin typeface="Aptos"/>
              </a:rP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93807" y="1719072"/>
            <a:ext cx="2011680" cy="1335024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399" y="1901952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399" y="2221992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02A43"/>
                </a:solidFill>
                <a:latin typeface="Aptos"/>
              </a:rPr>
              <a:t>RESPOND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399" y="2615184"/>
            <a:ext cx="1700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Source / related / abstain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493008"/>
            <a:ext cx="6675120" cy="1993392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730752"/>
            <a:ext cx="60807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6C2"/>
                </a:solidFill>
                <a:latin typeface="Aptos"/>
              </a:rPr>
              <a:t>V1 IMPLEMENTATION</a:t>
            </a:r>
          </a:p>
        </p:txBody>
      </p:sp>
      <p:sp>
        <p:nvSpPr>
          <p:cNvPr id="34" name="Oval 33"/>
          <p:cNvSpPr/>
          <p:nvPr/>
        </p:nvSpPr>
        <p:spPr>
          <a:xfrm>
            <a:off x="960120" y="4224527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" y="4133087"/>
            <a:ext cx="57881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Python  |  Streamlit user experience</a:t>
            </a:r>
          </a:p>
        </p:txBody>
      </p:sp>
      <p:sp>
        <p:nvSpPr>
          <p:cNvPr id="36" name="Oval 35"/>
          <p:cNvSpPr/>
          <p:nvPr/>
        </p:nvSpPr>
        <p:spPr>
          <a:xfrm>
            <a:off x="960120" y="4535423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1288" y="4443983"/>
            <a:ext cx="57881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BM25 ranking + IDF-weighted coverage gate</a:t>
            </a:r>
          </a:p>
        </p:txBody>
      </p:sp>
      <p:sp>
        <p:nvSpPr>
          <p:cNvPr id="38" name="Oval 37"/>
          <p:cNvSpPr/>
          <p:nvPr/>
        </p:nvSpPr>
        <p:spPr>
          <a:xfrm>
            <a:off x="960120" y="4846319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61288" y="4754879"/>
            <a:ext cx="57881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JSON / Markdown ingestion  |  local JSONL query log</a:t>
            </a:r>
          </a:p>
        </p:txBody>
      </p:sp>
      <p:sp>
        <p:nvSpPr>
          <p:cNvPr id="40" name="Oval 39"/>
          <p:cNvSpPr/>
          <p:nvPr/>
        </p:nvSpPr>
        <p:spPr>
          <a:xfrm>
            <a:off x="960120" y="5157215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61288" y="5065775"/>
            <a:ext cx="578815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Anthropic API synthesis optional; retrieval-only by default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3493008"/>
            <a:ext cx="3749039" cy="1993392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99248" y="3493008"/>
            <a:ext cx="64008" cy="19933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3675887"/>
            <a:ext cx="33375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43"/>
                </a:solidFill>
                <a:latin typeface="Aptos"/>
              </a:rPr>
              <a:t>Architecture principle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078224"/>
            <a:ext cx="3337559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43B53"/>
                </a:solidFill>
                <a:latin typeface="Aptos"/>
              </a:rPr>
              <a:t>Keep answer selection separate from wording. An LLM may polish an answer only after retrieval passes; it is not the source of truth.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574243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Production prerequisites: authentication, privacy/retention controls, document refresh process and operational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07  /  RISK &amp;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Trust is a product requirement, not a prompt instruction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The design uses multiple evidence checks and makes uncertain outcomes visible to the user.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1938528" cy="521207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7190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ptos"/>
              </a:rPr>
              <a:t>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1627632"/>
            <a:ext cx="8275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BM25 ranks passages; query coverage is an absolute signal, not only "best available" rank.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8" y="2212848"/>
            <a:ext cx="1063447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8" y="2377440"/>
            <a:ext cx="1938528" cy="521207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52374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ptos"/>
              </a:rPr>
              <a:t>ABSTENTION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432304"/>
            <a:ext cx="8275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Low coverage declines; partial coverage shows related sections without asserting an answer.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3017520"/>
            <a:ext cx="1063447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9808" y="3182112"/>
            <a:ext cx="1938528" cy="521207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32841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ptos"/>
              </a:rPr>
              <a:t>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236976"/>
            <a:ext cx="8275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Answer displays article/section; debug mode exposes confidence and missing terms.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8" y="3822191"/>
            <a:ext cx="1063447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8" y="3986784"/>
            <a:ext cx="1938528" cy="521207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13308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ptos"/>
              </a:rPr>
              <a:t>OPTIONAL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4041648"/>
            <a:ext cx="8275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LLM is off by default, receives retrieved passages only, requires citations and checks numbers.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8" y="4626864"/>
            <a:ext cx="10634472" cy="0"/>
          </a:xfrm>
          <a:prstGeom prst="line">
            <a:avLst/>
          </a:prstGeom>
          <a:ln w="889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8" y="4791456"/>
            <a:ext cx="1938528" cy="521207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49377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5D6C2"/>
                </a:solidFill>
                <a:latin typeface="Aptos"/>
              </a:rPr>
              <a:t>HUMAN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4846320"/>
            <a:ext cx="82753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43B53"/>
                </a:solidFill>
                <a:latin typeface="Aptos"/>
              </a:rPr>
              <a:t>Support reviews doc gaps and negative feedback; content owners resolve source gaps.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760720"/>
            <a:ext cx="10625328" cy="402336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852160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A43"/>
                </a:solidFill>
                <a:latin typeface="Aptos"/>
              </a:rPr>
              <a:t>Residual risks: lexical mismatch can over-refuse; numeric checks do not prove every generated claim. Keep retrieval-only default until independently validated.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08  /  PILOT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Run a time-boxed pilot with pre-agreed evidence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Suggested sequence: validate in a controlled environment, then expose to a small admin cohort.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4592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470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A6"/>
                </a:solidFill>
                <a:latin typeface="Aptos"/>
              </a:rPr>
              <a:t>1 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21992"/>
            <a:ext cx="2139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Curate docs; confirm data handling; build a holdout set from real support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164592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8470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A6"/>
                </a:solidFill>
                <a:latin typeface="Aptos"/>
              </a:rPr>
              <a:t>2  SHADOW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221992"/>
            <a:ext cx="2139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Compare assistant outcomes with Support-reviewed answers; do not yet rely on automation.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5936" y="164592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8470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A6"/>
                </a:solidFill>
                <a:latin typeface="Aptos"/>
              </a:rPr>
              <a:t>3  LIMITED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221992"/>
            <a:ext cx="2139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Pilot with a small cohort; collect usefulness feedback, gaps, escalations and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2288" y="1645920"/>
            <a:ext cx="2487168" cy="141732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8470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A6A6"/>
                </a:solidFill>
                <a:latin typeface="Aptos"/>
              </a:rPr>
              <a:t>4 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21992"/>
            <a:ext cx="213969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Expand, tune or stop based on quality, trust, operational impact and cost.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456432"/>
            <a:ext cx="658368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57600"/>
            <a:ext cx="6080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2A43"/>
                </a:solidFill>
                <a:latin typeface="Aptos"/>
              </a:rPr>
              <a:t>PILOT SCORECARD  |  SET TARGETS BEFORE 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0599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Grounded answer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405993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Support-judged correct + source-supported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" y="4352544"/>
            <a:ext cx="6071616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32688" y="441655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Unsafe answer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441655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Unsupported answer on out-of-scope set; target = 0 in test set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" y="4709160"/>
            <a:ext cx="6071616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2688" y="477316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Task 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99232" y="477316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Admin resolves without Support follow-up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" y="5065776"/>
            <a:ext cx="6071616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32688" y="5129784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99232" y="51297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43B53"/>
                </a:solidFill>
                <a:latin typeface="Aptos"/>
              </a:rPr>
              <a:t>Deflection / handling-time change vs baseline; report sample size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456432"/>
            <a:ext cx="3858768" cy="214884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3694176"/>
            <a:ext cx="3310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6C2"/>
                </a:solidFill>
                <a:latin typeface="Aptos"/>
              </a:rPr>
              <a:t>CURRENT PROTOTYPE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09651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"/>
              </a:rPr>
              <a:t>5 /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4681728"/>
            <a:ext cx="32369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9E2EC"/>
                </a:solidFill>
                <a:latin typeface="Aptos"/>
              </a:rPr>
              <a:t>Provided synthetic examples pass; 1 out-of-scope case correctly refused. This is not live accuracy or impact evidence.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587959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27D98"/>
                </a:solidFill>
                <a:latin typeface="Aptos"/>
              </a:rPr>
              <a:t>Go / no-go requires a representative, Support-labeled evaluation set  -  not only the seed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09  /  ROADMAP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02A43"/>
                </a:solidFill>
                <a:latin typeface="Aptos"/>
              </a:rPr>
              <a:t>Scale only after quality and operating ownership are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D98"/>
                </a:solidFill>
                <a:latin typeface="Aptos"/>
              </a:rPr>
              <a:t>A staged path preserves trust while opening options for broader value.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10528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27D98"/>
                </a:solidFill>
                <a:latin typeface="Aptos"/>
              </a:rPr>
              <a:t>SOLSTICE LEARNING  |  WORKING HYPOTHESIS | VALIDATE IN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013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00A6A6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64208"/>
            <a:ext cx="3401568" cy="160020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90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2990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Curated-doc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15184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Measure source-supported quality, refusals and task success.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1664208"/>
            <a:ext cx="3401568" cy="160020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65376"/>
            <a:ext cx="2990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185416"/>
            <a:ext cx="2990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Improve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15184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Use real query logs; expand synonyms; add doc freshness and access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1" y="1664208"/>
            <a:ext cx="3401568" cy="1600200"/>
          </a:xfrm>
          <a:prstGeom prst="roundRect">
            <a:avLst>
              <a:gd name="adj" fmla="val 12000"/>
            </a:avLst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1" y="1865376"/>
            <a:ext cx="2990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A6A6"/>
                </a:solidFill>
                <a:latin typeface="Aptos"/>
              </a:rP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1" y="2185416"/>
            <a:ext cx="29900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A43"/>
                </a:solidFill>
                <a:latin typeface="Aptos"/>
              </a:rPr>
              <a:t>Expand carefully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1" y="2615184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43B53"/>
                </a:solidFill>
                <a:latin typeface="Aptos"/>
              </a:rPr>
              <a:t>Hybrid semantic retrieval, multilingual support, authenticated personalization, analytics.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675887"/>
            <a:ext cx="6583680" cy="1847088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31920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5D6C2"/>
                </a:solidFill>
                <a:latin typeface="Aptos"/>
              </a:rPr>
              <a:t>DECISIONS REQUESTED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4416552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4325112"/>
            <a:ext cx="5742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Name an executive sponsor and Support product owner.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" y="4773168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681728"/>
            <a:ext cx="5742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Approve a time-boxed, limited-cohort pilot and success gates.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5129784"/>
            <a:ext cx="91440" cy="91440"/>
          </a:xfrm>
          <a:prstGeom prst="ellipse">
            <a:avLst/>
          </a:prstGeom>
          <a:solidFill>
            <a:srgbClr val="55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5038344"/>
            <a:ext cx="57424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ptos"/>
              </a:rPr>
              <a:t>Confirm source-doc owners, privacy rules and escalation path.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675887"/>
            <a:ext cx="3858768" cy="1847088"/>
          </a:xfrm>
          <a:prstGeom prst="roundRect">
            <a:avLst>
              <a:gd name="adj" fmla="val 12000"/>
            </a:avLst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3931920"/>
            <a:ext cx="3310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87C70"/>
                </a:solidFill>
                <a:latin typeface="Aptos"/>
              </a:rPr>
              <a:t>BOTTOM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325112"/>
            <a:ext cx="3246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02A43"/>
                </a:solidFill>
                <a:latin typeface="Aptos"/>
              </a:rPr>
              <a:t>Prove trusted self-service first. Then invest in reach.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33872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D98"/>
                </a:solidFill>
                <a:latin typeface="Aptos"/>
              </a:rPr>
              <a:t>Future capabilities are options, not commitments; prioritize them from pilot evidence and business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Solstice Learning | Documentation Q&amp;A Assistant ? Executive Proposal</dc:title>
  <dc:subject>Customer problem, pilot recommendation, impact case, assumptions, solution, technology and roadmap</dc:subject>
  <dc:creator>Solstice Learning ? Executive Proposal</dc:creator>
  <cp:keywords>documentation, support, retrieval, pilot, executive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